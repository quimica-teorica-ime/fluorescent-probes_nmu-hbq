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1" r:id="rId5"/>
    <p:sldId id="260" r:id="rId6"/>
    <p:sldId id="259" r:id="rId7"/>
    <p:sldId id="257" r:id="rId8"/>
    <p:sldId id="258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44" autoAdjust="0"/>
    <p:restoredTop sz="94660"/>
  </p:normalViewPr>
  <p:slideViewPr>
    <p:cSldViewPr snapToGrid="0">
      <p:cViewPr>
        <p:scale>
          <a:sx n="33" d="100"/>
          <a:sy n="33" d="100"/>
        </p:scale>
        <p:origin x="4080" y="16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FDCB16-C165-BFB3-A3A0-3C235B196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5C7D6A-CB0F-ED9F-8787-DEE9323EC3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88000C-1186-A0B9-C536-39DA1CADD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04CAA-2B6B-4932-93AF-6D20734B0D6C}" type="datetimeFigureOut">
              <a:rPr lang="pt-BR" smtClean="0"/>
              <a:t>28/08/2025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85272E-5E97-5015-DA1F-E92F00278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17BA43-796A-CF2F-5C25-AF9CDF9C2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BB611-6B87-4F23-8A4E-4DB66258687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0448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A07C0-E407-10DC-2239-1BFBF05A9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30C295-FE6D-071A-4074-0EDB4DB36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0B93F8-2526-B472-50C0-3FC8CF51A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04CAA-2B6B-4932-93AF-6D20734B0D6C}" type="datetimeFigureOut">
              <a:rPr lang="pt-BR" smtClean="0"/>
              <a:t>28/08/2025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CE763C-0D83-DCA6-2EE8-60C759E83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66698E-11E7-D1AB-EE73-A5F06F15C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BB611-6B87-4F23-8A4E-4DB66258687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8647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96ABC6-EF48-479C-885D-F66C33269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D70509-0750-CDA7-40FE-0AA50D5A0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60E783-23B8-D777-B8DB-FA1100407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04CAA-2B6B-4932-93AF-6D20734B0D6C}" type="datetimeFigureOut">
              <a:rPr lang="pt-BR" smtClean="0"/>
              <a:t>28/08/2025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A21551-BE90-7CD4-FBC6-63A0F0943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DC3391-B43F-ABAC-98DC-51392482F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BB611-6B87-4F23-8A4E-4DB66258687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801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5A0A3-63C3-8313-81D8-508B76573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D9E241-0BD1-876D-FDB5-4F88ACFB4E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4C2963-4B8D-B9C1-C565-553D419789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102BBB-F47B-F506-74B1-C6E553471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04CAA-2B6B-4932-93AF-6D20734B0D6C}" type="datetimeFigureOut">
              <a:rPr lang="pt-BR" smtClean="0"/>
              <a:t>28/08/2025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7197A7-1849-AF61-4EC6-F06E6A257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BA49317-5780-5072-C0E2-32C7850B0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BB611-6B87-4F23-8A4E-4DB66258687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468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6A012D-33C6-5CE0-25E9-FDB8D9CAD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3B0209-7C3C-7B6F-677C-064AB599D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C9EF2D9-23D9-CF52-FB70-486690658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E68B572-3E11-72C2-5AEB-478EDD65DE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D408DC2-677B-AEF7-E09A-A7B6F424EC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B57A913-5CEE-8F0B-5FC3-1CB64142A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04CAA-2B6B-4932-93AF-6D20734B0D6C}" type="datetimeFigureOut">
              <a:rPr lang="pt-BR" smtClean="0"/>
              <a:t>28/08/2025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FF91F98-17F5-3F00-A5C7-0126EE05B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86E4C0F-D395-CD67-C677-8D3842724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BB611-6B87-4F23-8A4E-4DB66258687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9801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76C80-8A8B-D52D-F898-DE132D876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8A02654-69D8-5E75-EB3B-E0C02B1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04CAA-2B6B-4932-93AF-6D20734B0D6C}" type="datetimeFigureOut">
              <a:rPr lang="pt-BR" smtClean="0"/>
              <a:t>28/08/2025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A966C14-BC71-BA32-05DB-BC6A8F893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A956FAF-6D52-7B54-DDBB-F4B598C5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BB611-6B87-4F23-8A4E-4DB66258687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3138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AD2B737-B344-4077-A66B-6CE9E74D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04CAA-2B6B-4932-93AF-6D20734B0D6C}" type="datetimeFigureOut">
              <a:rPr lang="pt-BR" smtClean="0"/>
              <a:t>28/08/2025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8C1B0D2-DB76-8281-1FF5-B2788C392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40064F4-2C2E-AD23-A70F-62944AC0A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BB611-6B87-4F23-8A4E-4DB66258687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147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C264C-4E64-E4B1-576D-A5A4D1777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34F260-F28F-8090-7154-8999A0855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EDDE745-B3DE-E3DA-9794-5108FB9C8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57D4D2A-5B30-C027-E21A-04AEA106E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04CAA-2B6B-4932-93AF-6D20734B0D6C}" type="datetimeFigureOut">
              <a:rPr lang="pt-BR" smtClean="0"/>
              <a:t>28/08/2025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058C40F-C83A-882F-74FD-F48926589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286C3F-9CDC-28E3-9AA4-56E4B62F8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BB611-6B87-4F23-8A4E-4DB66258687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175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ABC54A-3541-F8B0-782D-F2833EFB1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43E6E25-A734-F7FE-21C6-B4117DFE87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A2FB207-EE1A-C884-C2E6-DA8CC0989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FEAFF2E-8CA4-1718-C4B2-E0F853933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04CAA-2B6B-4932-93AF-6D20734B0D6C}" type="datetimeFigureOut">
              <a:rPr lang="pt-BR" smtClean="0"/>
              <a:t>28/08/2025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D8886AF-156C-B662-4F46-B25099FE0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A3FCFD3-802D-4D1D-048B-11BA3AD27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BB611-6B87-4F23-8A4E-4DB66258687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4707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619CD3-E6D9-FA05-1F59-DF9F766E3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BCFDC2-E539-7C0D-F74E-0F5B0CD30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B411C2-EE87-E243-A0A1-CAB575CB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04CAA-2B6B-4932-93AF-6D20734B0D6C}" type="datetimeFigureOut">
              <a:rPr lang="pt-BR" smtClean="0"/>
              <a:t>28/08/2025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86E02-9139-0720-A1E0-4DC8A46B7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E716CE-0102-27BB-9B7E-2B517476C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BB611-6B87-4F23-8A4E-4DB66258687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629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A4E880-83CC-8C2A-C9BD-C0FF3D6A70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73977F8-88B9-5DE0-949A-2A74BFCA59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8D788E-D1A4-ABD6-9B16-7612A9313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04CAA-2B6B-4932-93AF-6D20734B0D6C}" type="datetimeFigureOut">
              <a:rPr lang="pt-BR" smtClean="0"/>
              <a:t>28/08/2025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0D0953-6216-F03F-95AB-A61902345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65DE72-33C7-3992-2452-E469A19A1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BB611-6B87-4F23-8A4E-4DB66258687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8068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E7B450A-8E44-2069-423C-00DB5499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3B0C6F-19F0-F062-9F59-E7B899FD4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3C3C83-74B5-0A6A-0EC9-81D7DB53B4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B04CAA-2B6B-4932-93AF-6D20734B0D6C}" type="datetimeFigureOut">
              <a:rPr lang="pt-BR" smtClean="0"/>
              <a:t>28/08/2025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AEF2BB-D723-6E2A-FFAA-0AE8F5CEDC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8138FD-2ED1-57B1-D09C-EF1471E64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5BB611-6B87-4F23-8A4E-4DB66258687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3778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AB9CB0A-F68A-82C7-21CB-F59885090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05150" y="4243719"/>
            <a:ext cx="5630061" cy="402011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9863D35-8A87-6AB1-BEE3-D16FEB678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911" y="4243719"/>
            <a:ext cx="5677692" cy="41344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AE3E9C07-C443-FCC6-D4A7-46446773B93C}"/>
                  </a:ext>
                </a:extLst>
              </p:cNvPr>
              <p:cNvSpPr txBox="1"/>
              <p:nvPr/>
            </p:nvSpPr>
            <p:spPr>
              <a:xfrm>
                <a:off x="13912463" y="-1678430"/>
                <a:ext cx="488988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4000" i="1" dirty="0" smtClean="0">
                          <a:latin typeface="Cambria Math" panose="02040503050406030204" pitchFamily="18" charset="0"/>
                        </a:rPr>
                        <m:t>𝑅𝑀𝑆𝐷</m:t>
                      </m:r>
                      <m:r>
                        <a:rPr lang="pt-BR" sz="4000" i="1" dirty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pt-BR" sz="400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4000" i="1" dirty="0" smtClean="0">
                          <a:latin typeface="Cambria Math" panose="02040503050406030204" pitchFamily="18" charset="0"/>
                        </a:rPr>
                        <m:t>) = 0.0340</m:t>
                      </m:r>
                    </m:oMath>
                  </m:oMathPara>
                </a14:m>
                <a:endParaRPr lang="pt-BR" sz="40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AE3E9C07-C443-FCC6-D4A7-46446773B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2463" y="-1678430"/>
                <a:ext cx="4889887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aixaDeTexto 10">
            <a:extLst>
              <a:ext uri="{FF2B5EF4-FFF2-40B4-BE49-F238E27FC236}">
                <a16:creationId xmlns:a16="http://schemas.microsoft.com/office/drawing/2014/main" id="{FF014B6F-C38C-8F88-3B00-07769B281772}"/>
              </a:ext>
            </a:extLst>
          </p:cNvPr>
          <p:cNvSpPr txBox="1"/>
          <p:nvPr/>
        </p:nvSpPr>
        <p:spPr>
          <a:xfrm>
            <a:off x="10925173" y="889129"/>
            <a:ext cx="50101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/>
              <a:t>NMU-1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121F5E2-6A8A-1833-0B00-06DFF8991D1D}"/>
              </a:ext>
            </a:extLst>
          </p:cNvPr>
          <p:cNvSpPr txBox="1"/>
          <p:nvPr/>
        </p:nvSpPr>
        <p:spPr>
          <a:xfrm>
            <a:off x="-16907979" y="-111639"/>
            <a:ext cx="1219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/>
              <a:t>RMSD (A) = 0.1064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E14B944-CE84-1DC5-1D85-535927467F5E}"/>
              </a:ext>
            </a:extLst>
          </p:cNvPr>
          <p:cNvSpPr txBox="1"/>
          <p:nvPr/>
        </p:nvSpPr>
        <p:spPr>
          <a:xfrm>
            <a:off x="-832236" y="1078183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/>
              <a:t>HBA+H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3959287-2604-2DF9-1B82-84DAE16D77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4911" y="-803467"/>
            <a:ext cx="5677692" cy="504718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44CE25A-479A-D269-8009-27D46A7BAE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105150" y="-803467"/>
            <a:ext cx="5630061" cy="5047186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8C4A46E6-C234-53E8-6B72-B8A2276840C8}"/>
              </a:ext>
            </a:extLst>
          </p:cNvPr>
          <p:cNvSpPr txBox="1"/>
          <p:nvPr/>
        </p:nvSpPr>
        <p:spPr>
          <a:xfrm>
            <a:off x="-3134647" y="-1318253"/>
            <a:ext cx="50101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/>
              <a:t>a)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6E34D4B-D1F6-8D7A-0BE9-2BAB43E19EB2}"/>
              </a:ext>
            </a:extLst>
          </p:cNvPr>
          <p:cNvSpPr txBox="1"/>
          <p:nvPr/>
        </p:nvSpPr>
        <p:spPr>
          <a:xfrm>
            <a:off x="2406923" y="-1273452"/>
            <a:ext cx="50101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/>
              <a:t>b)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D98899B-26BE-0B9C-A77E-AE1E2334455E}"/>
              </a:ext>
            </a:extLst>
          </p:cNvPr>
          <p:cNvSpPr txBox="1"/>
          <p:nvPr/>
        </p:nvSpPr>
        <p:spPr>
          <a:xfrm>
            <a:off x="-3105150" y="4129402"/>
            <a:ext cx="50101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/>
              <a:t>c)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3AFE4A0-07DF-C97D-3D0D-0A23F61EA071}"/>
              </a:ext>
            </a:extLst>
          </p:cNvPr>
          <p:cNvSpPr txBox="1"/>
          <p:nvPr/>
        </p:nvSpPr>
        <p:spPr>
          <a:xfrm>
            <a:off x="2524911" y="4129403"/>
            <a:ext cx="50101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/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3204105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F07F5-7BAA-7CBE-79A7-F47613BB4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BF946891-842C-DB5E-8FEC-01F2F6020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39760" y="-1197252"/>
            <a:ext cx="5219686" cy="508536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19D2DBC-4EB5-19E6-37B9-BF0E416C6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943" y="-1250781"/>
            <a:ext cx="5660128" cy="50853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269EB17-079B-746F-C4CE-96677A907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4354" y="3863929"/>
            <a:ext cx="5449717" cy="37200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D99F7F-5F06-F665-642E-3EB17B221C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105150" y="3863929"/>
            <a:ext cx="5420221" cy="37200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21811F5-14FE-2E6C-897E-6194D717B97E}"/>
                  </a:ext>
                </a:extLst>
              </p:cNvPr>
              <p:cNvSpPr txBox="1"/>
              <p:nvPr/>
            </p:nvSpPr>
            <p:spPr>
              <a:xfrm>
                <a:off x="13760063" y="6858000"/>
                <a:ext cx="488988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pt-BR" sz="4000" i="1" dirty="0" smtClean="0">
                        <a:latin typeface="Cambria Math" panose="02040503050406030204" pitchFamily="18" charset="0"/>
                      </a:rPr>
                      <m:t>𝑅𝑀𝑆𝐷</m:t>
                    </m:r>
                    <m:r>
                      <a:rPr lang="pt-BR" sz="400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pt-BR" sz="4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4000" i="1" dirty="0" smtClean="0">
                        <a:latin typeface="Cambria Math" panose="02040503050406030204" pitchFamily="18" charset="0"/>
                      </a:rPr>
                      <m:t>) = 0.0</m:t>
                    </m:r>
                  </m:oMath>
                </a14:m>
                <a:r>
                  <a:rPr lang="pt-BR" sz="4000" dirty="0"/>
                  <a:t>150</a:t>
                </a: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21811F5-14FE-2E6C-897E-6194D717B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0063" y="6858000"/>
                <a:ext cx="4889887" cy="707886"/>
              </a:xfrm>
              <a:prstGeom prst="rect">
                <a:avLst/>
              </a:prstGeom>
              <a:blipFill>
                <a:blip r:embed="rId6"/>
                <a:stretch>
                  <a:fillRect t="-15517" r="-3491" b="-362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aixaDeTexto 10">
            <a:extLst>
              <a:ext uri="{FF2B5EF4-FFF2-40B4-BE49-F238E27FC236}">
                <a16:creationId xmlns:a16="http://schemas.microsoft.com/office/drawing/2014/main" id="{A1E08248-F29F-A92D-28BA-D02C094D20C4}"/>
              </a:ext>
            </a:extLst>
          </p:cNvPr>
          <p:cNvSpPr txBox="1"/>
          <p:nvPr/>
        </p:nvSpPr>
        <p:spPr>
          <a:xfrm>
            <a:off x="13173073" y="6027003"/>
            <a:ext cx="50101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/>
              <a:t>NMU-1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842CF9F-9E16-18A3-E153-F6460D32A2DE}"/>
              </a:ext>
            </a:extLst>
          </p:cNvPr>
          <p:cNvSpPr txBox="1"/>
          <p:nvPr/>
        </p:nvSpPr>
        <p:spPr>
          <a:xfrm>
            <a:off x="13173073" y="-2104449"/>
            <a:ext cx="1219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/>
              <a:t>RMSD (A) = 0.0436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17E0F9F-33A5-301E-0CC2-40EB71654FB4}"/>
              </a:ext>
            </a:extLst>
          </p:cNvPr>
          <p:cNvSpPr txBox="1"/>
          <p:nvPr/>
        </p:nvSpPr>
        <p:spPr>
          <a:xfrm>
            <a:off x="12553950" y="-119725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/>
              <a:t>HBQ+H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469F447-1600-2AEC-3134-B8F7BF111789}"/>
              </a:ext>
            </a:extLst>
          </p:cNvPr>
          <p:cNvSpPr txBox="1"/>
          <p:nvPr/>
        </p:nvSpPr>
        <p:spPr>
          <a:xfrm>
            <a:off x="-3105150" y="-1556115"/>
            <a:ext cx="50101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/>
              <a:t>a)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A0D5A3B-2FEA-ABA8-3413-2100AD5EEB9A}"/>
              </a:ext>
            </a:extLst>
          </p:cNvPr>
          <p:cNvSpPr txBox="1"/>
          <p:nvPr/>
        </p:nvSpPr>
        <p:spPr>
          <a:xfrm>
            <a:off x="2294354" y="-1553384"/>
            <a:ext cx="50101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/>
              <a:t>b)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A02AF39-C0E7-8223-3309-6ACF375E0EAD}"/>
              </a:ext>
            </a:extLst>
          </p:cNvPr>
          <p:cNvSpPr txBox="1"/>
          <p:nvPr/>
        </p:nvSpPr>
        <p:spPr>
          <a:xfrm>
            <a:off x="-3105150" y="3863929"/>
            <a:ext cx="50101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/>
              <a:t>c)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D027C55-1FD2-1079-E491-80B9A9142CC6}"/>
              </a:ext>
            </a:extLst>
          </p:cNvPr>
          <p:cNvSpPr txBox="1"/>
          <p:nvPr/>
        </p:nvSpPr>
        <p:spPr>
          <a:xfrm>
            <a:off x="2141451" y="3863930"/>
            <a:ext cx="50101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/>
              <a:t>d)</a:t>
            </a:r>
          </a:p>
        </p:txBody>
      </p:sp>
      <p:sp>
        <p:nvSpPr>
          <p:cNvPr id="22" name="CaixaDeTexto 2">
            <a:extLst>
              <a:ext uri="{FF2B5EF4-FFF2-40B4-BE49-F238E27FC236}">
                <a16:creationId xmlns:a16="http://schemas.microsoft.com/office/drawing/2014/main" id="{AE11B32C-59E0-E37F-3F54-104B16BED4A0}"/>
              </a:ext>
            </a:extLst>
          </p:cNvPr>
          <p:cNvSpPr txBox="1"/>
          <p:nvPr/>
        </p:nvSpPr>
        <p:spPr>
          <a:xfrm>
            <a:off x="-3139760" y="-2858393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/>
              <a:t>S1</a:t>
            </a:r>
          </a:p>
        </p:txBody>
      </p:sp>
    </p:spTree>
    <p:extLst>
      <p:ext uri="{BB962C8B-B14F-4D97-AF65-F5344CB8AC3E}">
        <p14:creationId xmlns:p14="http://schemas.microsoft.com/office/powerpoint/2010/main" val="2651693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3A000-8C1A-9D9F-C23E-DCDCD0EE2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4C6AF6E-5A28-9F93-65D3-E8B6C2A79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67862" y="4865295"/>
            <a:ext cx="5630061" cy="402011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A6FD8C5-13C1-EED4-8089-271D6D437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802472" y="-1426630"/>
            <a:ext cx="5630061" cy="504718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9877B4-A1FE-D0E3-D2CB-A9A1C5FBD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243429" y="-1407951"/>
            <a:ext cx="5219686" cy="50853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42FE0D-1C9F-39B2-1BCC-B3FFF98D81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208819" y="4980583"/>
            <a:ext cx="5420221" cy="37200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469A9127-E1E3-03C1-E5DB-BDF1576E0169}"/>
                  </a:ext>
                </a:extLst>
              </p:cNvPr>
              <p:cNvSpPr txBox="1"/>
              <p:nvPr/>
            </p:nvSpPr>
            <p:spPr>
              <a:xfrm>
                <a:off x="13760063" y="6858000"/>
                <a:ext cx="488988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pt-BR" sz="4000" i="1" dirty="0" smtClean="0">
                        <a:latin typeface="Cambria Math" panose="02040503050406030204" pitchFamily="18" charset="0"/>
                      </a:rPr>
                      <m:t>𝑅𝑀𝑆𝐷</m:t>
                    </m:r>
                    <m:r>
                      <a:rPr lang="pt-BR" sz="400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pt-BR" sz="4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4000" i="1" dirty="0" smtClean="0">
                        <a:latin typeface="Cambria Math" panose="02040503050406030204" pitchFamily="18" charset="0"/>
                      </a:rPr>
                      <m:t>) = 0.0</m:t>
                    </m:r>
                  </m:oMath>
                </a14:m>
                <a:r>
                  <a:rPr lang="pt-BR" sz="4000" dirty="0"/>
                  <a:t>150</a:t>
                </a: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469A9127-E1E3-03C1-E5DB-BDF1576E0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0063" y="6858000"/>
                <a:ext cx="4889887" cy="707886"/>
              </a:xfrm>
              <a:prstGeom prst="rect">
                <a:avLst/>
              </a:prstGeom>
              <a:blipFill>
                <a:blip r:embed="rId6"/>
                <a:stretch>
                  <a:fillRect t="-15517" r="-3491" b="-362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aixaDeTexto 10">
            <a:extLst>
              <a:ext uri="{FF2B5EF4-FFF2-40B4-BE49-F238E27FC236}">
                <a16:creationId xmlns:a16="http://schemas.microsoft.com/office/drawing/2014/main" id="{0A77296C-B6C6-621B-E6FE-10AB233515D8}"/>
              </a:ext>
            </a:extLst>
          </p:cNvPr>
          <p:cNvSpPr txBox="1"/>
          <p:nvPr/>
        </p:nvSpPr>
        <p:spPr>
          <a:xfrm>
            <a:off x="13173073" y="6027003"/>
            <a:ext cx="50101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/>
              <a:t>NMU-1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AC96434-5AE9-BBD4-D3BC-EB169BC863E2}"/>
              </a:ext>
            </a:extLst>
          </p:cNvPr>
          <p:cNvSpPr txBox="1"/>
          <p:nvPr/>
        </p:nvSpPr>
        <p:spPr>
          <a:xfrm>
            <a:off x="13173073" y="-2104449"/>
            <a:ext cx="1219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/>
              <a:t>RMSD (A) = 0.0436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41180D5-84CA-1A96-659E-C1FC321A9F2C}"/>
              </a:ext>
            </a:extLst>
          </p:cNvPr>
          <p:cNvSpPr txBox="1"/>
          <p:nvPr/>
        </p:nvSpPr>
        <p:spPr>
          <a:xfrm>
            <a:off x="-12767862" y="-2795981"/>
            <a:ext cx="10979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/>
              <a:t>HBQ+H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E3538547-ACF3-9C21-B3E2-D85B263F5649}"/>
                  </a:ext>
                </a:extLst>
              </p:cNvPr>
              <p:cNvSpPr txBox="1"/>
              <p:nvPr/>
            </p:nvSpPr>
            <p:spPr>
              <a:xfrm>
                <a:off x="-12785243" y="-2069865"/>
                <a:ext cx="501015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4800" dirty="0"/>
                  <a:t>a)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4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4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pt-BR" sz="4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pt-BR" sz="4800" dirty="0"/>
              </a:p>
            </p:txBody>
          </p:sp>
        </mc:Choice>
        <mc:Fallback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E3538547-ACF3-9C21-B3E2-D85B263F5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785243" y="-2069865"/>
                <a:ext cx="5010151" cy="830997"/>
              </a:xfrm>
              <a:prstGeom prst="rect">
                <a:avLst/>
              </a:prstGeom>
              <a:blipFill>
                <a:blip r:embed="rId7"/>
                <a:stretch>
                  <a:fillRect l="-5596" t="-16058" b="-379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48F7F1E1-3490-B048-6C0B-618DD5D698AF}"/>
                  </a:ext>
                </a:extLst>
              </p:cNvPr>
              <p:cNvSpPr txBox="1"/>
              <p:nvPr/>
            </p:nvSpPr>
            <p:spPr>
              <a:xfrm>
                <a:off x="-7385739" y="-2067134"/>
                <a:ext cx="501015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4800" dirty="0"/>
                  <a:t>b)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4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4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pt-BR" sz="4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pt-BR" sz="4800" dirty="0"/>
              </a:p>
            </p:txBody>
          </p:sp>
        </mc:Choice>
        <mc:Fallback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48F7F1E1-3490-B048-6C0B-618DD5D69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85739" y="-2067134"/>
                <a:ext cx="5010151" cy="830997"/>
              </a:xfrm>
              <a:prstGeom prst="rect">
                <a:avLst/>
              </a:prstGeom>
              <a:blipFill>
                <a:blip r:embed="rId8"/>
                <a:stretch>
                  <a:fillRect l="-5474" t="-16176" b="-389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3F0677CA-710D-A1B6-68C9-9E05B6ED1275}"/>
                  </a:ext>
                </a:extLst>
              </p:cNvPr>
              <p:cNvSpPr txBox="1"/>
              <p:nvPr/>
            </p:nvSpPr>
            <p:spPr>
              <a:xfrm>
                <a:off x="-12785243" y="4677532"/>
                <a:ext cx="501015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4800" dirty="0"/>
                  <a:t>c)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4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4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pt-BR" sz="4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pt-BR" sz="4800" dirty="0"/>
              </a:p>
            </p:txBody>
          </p:sp>
        </mc:Choice>
        <mc:Fallback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3F0677CA-710D-A1B6-68C9-9E05B6ED1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785243" y="4677532"/>
                <a:ext cx="5010151" cy="830997"/>
              </a:xfrm>
              <a:prstGeom prst="rect">
                <a:avLst/>
              </a:prstGeom>
              <a:blipFill>
                <a:blip r:embed="rId9"/>
                <a:stretch>
                  <a:fillRect l="-5596" t="-16058" b="-379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6E93DD23-5AF3-C53A-AD47-08D7F0236D22}"/>
                  </a:ext>
                </a:extLst>
              </p:cNvPr>
              <p:cNvSpPr txBox="1"/>
              <p:nvPr/>
            </p:nvSpPr>
            <p:spPr>
              <a:xfrm>
                <a:off x="-7538642" y="4677533"/>
                <a:ext cx="501015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4800" dirty="0"/>
                  <a:t>d)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4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4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pt-BR" sz="4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pt-BR" sz="4800" dirty="0"/>
              </a:p>
            </p:txBody>
          </p:sp>
        </mc:Choice>
        <mc:Fallback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6E93DD23-5AF3-C53A-AD47-08D7F0236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38642" y="4677533"/>
                <a:ext cx="5010151" cy="830997"/>
              </a:xfrm>
              <a:prstGeom prst="rect">
                <a:avLst/>
              </a:prstGeom>
              <a:blipFill>
                <a:blip r:embed="rId10"/>
                <a:stretch>
                  <a:fillRect l="-5474" t="-16058" b="-379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aixaDeTexto 2">
            <a:extLst>
              <a:ext uri="{FF2B5EF4-FFF2-40B4-BE49-F238E27FC236}">
                <a16:creationId xmlns:a16="http://schemas.microsoft.com/office/drawing/2014/main" id="{996F2380-31BF-4AEF-8174-5B62BD1F150B}"/>
              </a:ext>
            </a:extLst>
          </p:cNvPr>
          <p:cNvSpPr txBox="1"/>
          <p:nvPr/>
        </p:nvSpPr>
        <p:spPr>
          <a:xfrm>
            <a:off x="1950030" y="-686098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/>
              <a:t>S1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2">
                <a:extLst>
                  <a:ext uri="{FF2B5EF4-FFF2-40B4-BE49-F238E27FC236}">
                    <a16:creationId xmlns:a16="http://schemas.microsoft.com/office/drawing/2014/main" id="{1DC230FE-37A0-F4E9-D665-7118A3471DF6}"/>
                  </a:ext>
                </a:extLst>
              </p:cNvPr>
              <p:cNvSpPr txBox="1"/>
              <p:nvPr/>
            </p:nvSpPr>
            <p:spPr>
              <a:xfrm>
                <a:off x="-2968694" y="-6347330"/>
                <a:ext cx="552443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pt-BR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𝐻𝐵𝑄</m:t>
                          </m:r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4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endParaRPr lang="pt-BR" sz="4800" dirty="0"/>
              </a:p>
            </p:txBody>
          </p:sp>
        </mc:Choice>
        <mc:Fallback>
          <p:sp>
            <p:nvSpPr>
              <p:cNvPr id="4" name="CaixaDeTexto 2">
                <a:extLst>
                  <a:ext uri="{FF2B5EF4-FFF2-40B4-BE49-F238E27FC236}">
                    <a16:creationId xmlns:a16="http://schemas.microsoft.com/office/drawing/2014/main" id="{1DC230FE-37A0-F4E9-D665-7118A3471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968694" y="-6347330"/>
                <a:ext cx="5524434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BE9AD045-3930-3934-3BB3-16088BAF35C7}"/>
              </a:ext>
            </a:extLst>
          </p:cNvPr>
          <p:cNvSpPr/>
          <p:nvPr/>
        </p:nvSpPr>
        <p:spPr>
          <a:xfrm>
            <a:off x="-12802472" y="-2795981"/>
            <a:ext cx="11013874" cy="6473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2">
            <a:extLst>
              <a:ext uri="{FF2B5EF4-FFF2-40B4-BE49-F238E27FC236}">
                <a16:creationId xmlns:a16="http://schemas.microsoft.com/office/drawing/2014/main" id="{59A9F7C9-02B3-2291-3E96-01D207F68725}"/>
              </a:ext>
            </a:extLst>
          </p:cNvPr>
          <p:cNvSpPr txBox="1"/>
          <p:nvPr/>
        </p:nvSpPr>
        <p:spPr>
          <a:xfrm>
            <a:off x="-12536130" y="3905146"/>
            <a:ext cx="107475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/>
              <a:t>NMU-1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73E56E-672A-8B05-C7F4-0FB4923ED319}"/>
              </a:ext>
            </a:extLst>
          </p:cNvPr>
          <p:cNvSpPr/>
          <p:nvPr/>
        </p:nvSpPr>
        <p:spPr>
          <a:xfrm>
            <a:off x="-12802473" y="3677411"/>
            <a:ext cx="11013874" cy="52079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7437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2B830-D23B-7F54-D353-A1680B332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533C891-5C7A-4B59-80E5-AF14BD705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05150" y="-705427"/>
            <a:ext cx="6468378" cy="402011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7982CD4-7E19-0AAB-0BD1-FFE1E7529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228" y="-705427"/>
            <a:ext cx="6649378" cy="413442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29BF711-BB9B-3A17-CC25-DCFFB8CC1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06" y="-705427"/>
            <a:ext cx="6773220" cy="4134427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B019B61B-18E5-4F6F-469E-C7B31E03F21C}"/>
              </a:ext>
            </a:extLst>
          </p:cNvPr>
          <p:cNvSpPr txBox="1"/>
          <p:nvPr/>
        </p:nvSpPr>
        <p:spPr>
          <a:xfrm>
            <a:off x="0" y="3752850"/>
            <a:ext cx="1219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/>
              <a:t>RMSD (A) = 0.0340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B0118B9-8B9D-63DB-98F0-A6FB13AE0F57}"/>
              </a:ext>
            </a:extLst>
          </p:cNvPr>
          <p:cNvSpPr txBox="1"/>
          <p:nvPr/>
        </p:nvSpPr>
        <p:spPr>
          <a:xfrm>
            <a:off x="1" y="516255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/>
              <a:t>NMU-1</a:t>
            </a:r>
          </a:p>
        </p:txBody>
      </p:sp>
    </p:spTree>
    <p:extLst>
      <p:ext uri="{BB962C8B-B14F-4D97-AF65-F5344CB8AC3E}">
        <p14:creationId xmlns:p14="http://schemas.microsoft.com/office/powerpoint/2010/main" val="1855938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3DAFA-C711-DC8D-EB3F-C6BFBE3B8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064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7A30E-2006-C522-254E-4FDAC1E09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BEC60CCB-EDFA-511E-5D5B-F68D5E7B4A6D}"/>
              </a:ext>
            </a:extLst>
          </p:cNvPr>
          <p:cNvSpPr txBox="1"/>
          <p:nvPr/>
        </p:nvSpPr>
        <p:spPr>
          <a:xfrm>
            <a:off x="0" y="3752850"/>
            <a:ext cx="1219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/>
              <a:t>RMSD (A) = 0.1064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A6859F8-31AF-A213-A15E-47329F1AC944}"/>
              </a:ext>
            </a:extLst>
          </p:cNvPr>
          <p:cNvSpPr txBox="1"/>
          <p:nvPr/>
        </p:nvSpPr>
        <p:spPr>
          <a:xfrm>
            <a:off x="1" y="516255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/>
              <a:t>HBA+H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D2A3A78-01AD-D362-0E01-054491048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148" y="-2474966"/>
            <a:ext cx="5677692" cy="564911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963FF85-8819-3B16-6F6E-0A367B726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72913" y="-2474966"/>
            <a:ext cx="5630061" cy="545858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165D576-5544-4CC1-3F98-E96D50DB1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840" y="-2474966"/>
            <a:ext cx="5830114" cy="590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314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35482-89BD-10BC-47C3-6A10C2F38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AEB08DFE-7338-3230-E205-74D93BC91584}"/>
              </a:ext>
            </a:extLst>
          </p:cNvPr>
          <p:cNvSpPr txBox="1"/>
          <p:nvPr/>
        </p:nvSpPr>
        <p:spPr>
          <a:xfrm>
            <a:off x="0" y="3752850"/>
            <a:ext cx="1219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/>
              <a:t>RMSD (A) = 0.4158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FDDD7D5-F5E0-08A5-A54C-0F6EAE1E0319}"/>
              </a:ext>
            </a:extLst>
          </p:cNvPr>
          <p:cNvSpPr txBox="1"/>
          <p:nvPr/>
        </p:nvSpPr>
        <p:spPr>
          <a:xfrm>
            <a:off x="1" y="516255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/>
              <a:t>HBA-AE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82D1AF3-C866-8406-FE5B-EA8DED5F3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504" y="-1210368"/>
            <a:ext cx="4620270" cy="496321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A796BB1-75BE-3F12-4658-662789693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8871" y="-1210368"/>
            <a:ext cx="4477375" cy="484890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A6ACB517-03BB-367B-73B3-5455CB85E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2573" y="-1210368"/>
            <a:ext cx="4867954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28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96230-CB1A-0007-F722-28576FE3D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938B1BA3-3DF8-831B-6E7B-B44DA4C79190}"/>
              </a:ext>
            </a:extLst>
          </p:cNvPr>
          <p:cNvSpPr txBox="1"/>
          <p:nvPr/>
        </p:nvSpPr>
        <p:spPr>
          <a:xfrm>
            <a:off x="0" y="3752850"/>
            <a:ext cx="1219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/>
              <a:t>RMSD (A) = 0.2485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99F4A46-0E86-C5E8-BEC7-807AB2FD460F}"/>
              </a:ext>
            </a:extLst>
          </p:cNvPr>
          <p:cNvSpPr txBox="1"/>
          <p:nvPr/>
        </p:nvSpPr>
        <p:spPr>
          <a:xfrm>
            <a:off x="1" y="516255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/>
              <a:t>HBA-DCP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1B5B0E5-514B-F6A6-70F1-56B40FBB2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359" y="-2477370"/>
            <a:ext cx="5420481" cy="611590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281190B-5E4B-819B-660C-B25D619B6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44175" y="-2477370"/>
            <a:ext cx="5258534" cy="590637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20392B6-3D79-BC74-F32D-46B2486DD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840" y="-2477369"/>
            <a:ext cx="5734850" cy="623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8826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111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Matheus Maximo</dc:creator>
  <cp:lastModifiedBy>Matheus Maximo</cp:lastModifiedBy>
  <cp:revision>7</cp:revision>
  <dcterms:created xsi:type="dcterms:W3CDTF">2025-08-19T18:01:43Z</dcterms:created>
  <dcterms:modified xsi:type="dcterms:W3CDTF">2025-08-28T17:20:54Z</dcterms:modified>
</cp:coreProperties>
</file>